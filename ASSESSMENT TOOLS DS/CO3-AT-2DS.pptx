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7055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CO3-AT-2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Tree for Image Representation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simulation of recursive subdivision — compressing uniform regions to improve storage efficiency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961120" y="4206240"/>
            <a:ext cx="923544" cy="923544"/>
          </a:xfrm>
          <a:prstGeom prst="rect">
            <a:avLst/>
          </a:prstGeom>
          <a:solidFill>
            <a:srgbClr val="2A3A5C"/>
          </a:solidFill>
          <a:ln w="12700">
            <a:solidFill>
              <a:srgbClr val="3E51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21240" y="4206240"/>
            <a:ext cx="923544" cy="923544"/>
          </a:xfrm>
          <a:prstGeom prst="rect">
            <a:avLst/>
          </a:prstGeom>
          <a:solidFill>
            <a:srgbClr val="2E5395"/>
          </a:solidFill>
          <a:ln w="12700">
            <a:solidFill>
              <a:srgbClr val="3E51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0" y="5166360"/>
            <a:ext cx="923544" cy="923544"/>
          </a:xfrm>
          <a:prstGeom prst="rect">
            <a:avLst/>
          </a:prstGeom>
          <a:solidFill>
            <a:srgbClr val="2A3A5C"/>
          </a:solidFill>
          <a:ln w="12700">
            <a:solidFill>
              <a:srgbClr val="3E51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21240" y="5166360"/>
            <a:ext cx="923544" cy="923544"/>
          </a:xfrm>
          <a:prstGeom prst="rect">
            <a:avLst/>
          </a:prstGeom>
          <a:solidFill>
            <a:srgbClr val="2A3A5C"/>
          </a:solidFill>
          <a:ln w="12700">
            <a:solidFill>
              <a:srgbClr val="3E51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0" y="4206240"/>
            <a:ext cx="1920240" cy="1920240"/>
          </a:xfrm>
          <a:prstGeom prst="rect">
            <a:avLst/>
          </a:prstGeom>
          <a:ln w="25400">
            <a:solidFill>
              <a:srgbClr val="E0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760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
</a:t>
            </a:r>
            <a:r>
              <a:rPr lang="en-US" sz="1400" b="1" dirty="0">
                <a:solidFill>
                  <a:srgbClr val="C9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192524007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Quad Tree?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data structure in which every internal node has exactly 4 children, used to recursively divide 2D space into quadrants.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images, each node represents a square region of the picture.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region (all pixels identical) → stored as a single LEAF node — no further division.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 region (mixed pixels) → SPLIT into 4 smaller quadrants: NW, NE, SW, SE — and the process repeats.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1737360" cy="1737360"/>
          </a:xfrm>
          <a:prstGeom prst="rect">
            <a:avLst/>
          </a:prstGeom>
          <a:solidFill>
            <a:srgbClr val="EAF0FA"/>
          </a:solidFill>
          <a:ln w="19050">
            <a:solidFill>
              <a:srgbClr val="2E53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7373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(uniform?)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69680" y="2606040"/>
            <a:ext cx="8229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8778240" y="2286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into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829800" y="1737360"/>
            <a:ext cx="813816" cy="813816"/>
          </a:xfrm>
          <a:prstGeom prst="rect">
            <a:avLst/>
          </a:prstGeom>
          <a:solidFill>
            <a:srgbClr val="D9E4F7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29800" y="173736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698480" y="1737360"/>
            <a:ext cx="813816" cy="813816"/>
          </a:xfrm>
          <a:prstGeom prst="rect">
            <a:avLst/>
          </a:prstGeom>
          <a:solidFill>
            <a:srgbClr val="F7E3C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0" y="173736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829800" y="2606040"/>
            <a:ext cx="813816" cy="813816"/>
          </a:xfrm>
          <a:prstGeom prst="rect">
            <a:avLst/>
          </a:prstGeom>
          <a:solidFill>
            <a:srgbClr val="D9E4F7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9800" y="260604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698480" y="2606040"/>
            <a:ext cx="813816" cy="813816"/>
          </a:xfrm>
          <a:prstGeom prst="rect">
            <a:avLst/>
          </a:prstGeom>
          <a:solidFill>
            <a:srgbClr val="F7E3C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0" y="260604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9319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child is checked the same way — recursively.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Compression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rule: uniform region → store as 1 leaf node; non-uniform region → split into 4 and repeat.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flat areas (sky, plain background, solid color blocks) collapse into a single large leaf — big storage savings.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detailed or noisy areas keep splitting all the way down to individual pixels — little to no savings there.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compression ratio depends entirely on image content — the more uniform the image, the more it compresses.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— STEP 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8×8 Image — Raw Pixels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original bitmap: an 8×8 grid of black / white pixels.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naively, every single pixel needs its own value.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structure, no grouping, no compression yet — this is our baseline.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79208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54696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05672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56648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32136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9208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696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5672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56648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32136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9208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4696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0184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5672" y="236829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36829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56648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32136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9208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54696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0184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5672" y="2843784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2843784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56648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32136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03720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9208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54696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0184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5672" y="3319272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56648" y="3319272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32136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79208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54696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30184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379476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56648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32136" y="379476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03720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79208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54696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0184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5672" y="427024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81160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56648" y="427024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32136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03720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79208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54696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30184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5672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81160" y="474573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56648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32136" y="474573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03720" y="1417320"/>
            <a:ext cx="3803904" cy="3803904"/>
          </a:xfrm>
          <a:prstGeom prst="rect">
            <a:avLst/>
          </a:prstGeom>
          <a:ln w="19050">
            <a:solidFill>
              <a:srgbClr val="1F2A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" y="5623560"/>
            <a:ext cx="201168" cy="2011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71" name="Text 69"/>
          <p:cNvSpPr/>
          <p:nvPr/>
        </p:nvSpPr>
        <p:spPr>
          <a:xfrm>
            <a:off x="795528" y="55869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uniform region, stored as one node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02920" y="5916168"/>
            <a:ext cx="201168" cy="201168"/>
          </a:xfrm>
          <a:prstGeom prst="rect">
            <a:avLst/>
          </a:prstGeom>
          <a:solidFill>
            <a:srgbClr val="E07A2C"/>
          </a:solidFill>
          <a:ln/>
        </p:spPr>
      </p:sp>
      <p:sp>
        <p:nvSpPr>
          <p:cNvPr id="73" name="Text 71"/>
          <p:cNvSpPr/>
          <p:nvPr/>
        </p:nvSpPr>
        <p:spPr>
          <a:xfrm>
            <a:off x="795528" y="5879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non-uniform, divide into 4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02920" y="6172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storage: 64 individual pixel values.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—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First-Level Split (Depth 1)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8×8 image is checked first — it is NOT uniform, so it splits into 4 quadrants of size 4×4.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 and SW turn out fully uniform → they become LEAF nodes immediately. Compressed!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and SE are still mixed → they must be split further.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79208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54696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05672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56648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32136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9208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696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5672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56648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32136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9208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4696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0184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5672" y="236829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99822" y="2377627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56648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32136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9208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54696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0184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5672" y="2843784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2843784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56648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32136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03720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9208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54696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0184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5672" y="3319272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56648" y="3319272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32136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79208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54696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30184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379476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56648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32136" y="379476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03720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79208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54696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0184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5672" y="427024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81160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56648" y="427024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32136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03720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79208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54696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30184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5672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81160" y="474573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56648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32136" y="474573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03720" y="1417320"/>
            <a:ext cx="3803904" cy="3803904"/>
          </a:xfrm>
          <a:prstGeom prst="rect">
            <a:avLst/>
          </a:prstGeom>
          <a:ln w="19050">
            <a:solidFill>
              <a:srgbClr val="1F2A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5672" y="1417320"/>
            <a:ext cx="0" cy="3803904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03720" y="3319272"/>
            <a:ext cx="3803904" cy="0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903720" y="1417320"/>
            <a:ext cx="1901952" cy="1901952"/>
          </a:xfrm>
          <a:prstGeom prst="rect">
            <a:avLst/>
          </a:prstGeom>
          <a:ln w="31750">
            <a:solidFill>
              <a:srgbClr val="2E8B57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6903720" y="3319272"/>
            <a:ext cx="1901952" cy="1901952"/>
          </a:xfrm>
          <a:prstGeom prst="rect">
            <a:avLst/>
          </a:prstGeom>
          <a:ln w="31750">
            <a:solidFill>
              <a:srgbClr val="2E8B57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8805672" y="1417320"/>
            <a:ext cx="1901952" cy="1901952"/>
          </a:xfrm>
          <a:prstGeom prst="rect">
            <a:avLst/>
          </a:prstGeom>
          <a:ln w="31750">
            <a:solidFill>
              <a:srgbClr val="E07A2C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8805672" y="3319272"/>
            <a:ext cx="1901952" cy="1901952"/>
          </a:xfrm>
          <a:prstGeom prst="rect">
            <a:avLst/>
          </a:prstGeom>
          <a:ln w="31750">
            <a:solidFill>
              <a:srgbClr val="E07A2C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6931152" y="144475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77" name="Text 75"/>
          <p:cNvSpPr/>
          <p:nvPr/>
        </p:nvSpPr>
        <p:spPr>
          <a:xfrm>
            <a:off x="6931152" y="1444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931152" y="3346704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79" name="Text 77"/>
          <p:cNvSpPr/>
          <p:nvPr/>
        </p:nvSpPr>
        <p:spPr>
          <a:xfrm>
            <a:off x="6931152" y="3346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8833104" y="144475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07A2C"/>
          </a:solidFill>
          <a:ln/>
        </p:spPr>
      </p:sp>
      <p:sp>
        <p:nvSpPr>
          <p:cNvPr id="81" name="Text 79"/>
          <p:cNvSpPr/>
          <p:nvPr/>
        </p:nvSpPr>
        <p:spPr>
          <a:xfrm>
            <a:off x="8833104" y="1444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833104" y="3346704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07A2C"/>
          </a:solidFill>
          <a:ln/>
        </p:spPr>
      </p:sp>
      <p:sp>
        <p:nvSpPr>
          <p:cNvPr id="83" name="Text 81"/>
          <p:cNvSpPr/>
          <p:nvPr/>
        </p:nvSpPr>
        <p:spPr>
          <a:xfrm>
            <a:off x="8833104" y="3346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02920" y="5623560"/>
            <a:ext cx="201168" cy="2011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5" name="Text 83"/>
          <p:cNvSpPr/>
          <p:nvPr/>
        </p:nvSpPr>
        <p:spPr>
          <a:xfrm>
            <a:off x="795528" y="55869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uniform region, stored as one node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02920" y="5916168"/>
            <a:ext cx="201168" cy="201168"/>
          </a:xfrm>
          <a:prstGeom prst="rect">
            <a:avLst/>
          </a:prstGeom>
          <a:solidFill>
            <a:srgbClr val="E07A2C"/>
          </a:solidFill>
          <a:ln/>
        </p:spPr>
      </p:sp>
      <p:sp>
        <p:nvSpPr>
          <p:cNvPr id="87" name="Text 85"/>
          <p:cNvSpPr/>
          <p:nvPr/>
        </p:nvSpPr>
        <p:spPr>
          <a:xfrm>
            <a:off x="795528" y="5879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non-uniform, divide into 4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502920" y="6172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far: 2 leaf nodes cover 32 pixels with just 2 stored values.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—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Second-Level Split (Depth 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(4×4) splits into four 2×2 blocks — all four are uniform → 4 new LEAF nodes.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(4×4) also splits into four 2×2 blocks — it's a checkerboard, so none are uniform → must split again.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79208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54696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05672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56648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32136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9208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696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5672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56648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32136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9208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4696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0184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5672" y="236829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36829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56648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32136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9208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54696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0184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5672" y="2843784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2843784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56648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32136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03720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9208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54696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0184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5672" y="3319272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56648" y="3319272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32136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79208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54696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30184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379476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56648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32136" y="379476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03720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79208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54696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0184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5672" y="427024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81160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56648" y="427024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32136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03720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79208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54696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30184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5672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81160" y="474573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56648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32136" y="474573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03720" y="1417320"/>
            <a:ext cx="3803904" cy="3803904"/>
          </a:xfrm>
          <a:prstGeom prst="rect">
            <a:avLst/>
          </a:prstGeom>
          <a:ln w="19050">
            <a:solidFill>
              <a:srgbClr val="1F2A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5672" y="1417320"/>
            <a:ext cx="0" cy="3803904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03720" y="3319272"/>
            <a:ext cx="3803904" cy="0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756648" y="1417320"/>
            <a:ext cx="0" cy="190195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5672" y="2368296"/>
            <a:ext cx="1901952" cy="0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56648" y="3319272"/>
            <a:ext cx="0" cy="190195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5672" y="4270248"/>
            <a:ext cx="1901952" cy="0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03720" y="1417320"/>
            <a:ext cx="1901952" cy="1901952"/>
          </a:xfrm>
          <a:prstGeom prst="rect">
            <a:avLst/>
          </a:prstGeom>
          <a:ln w="31750">
            <a:solidFill>
              <a:srgbClr val="2E8B57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6903720" y="3319272"/>
            <a:ext cx="1901952" cy="1901952"/>
          </a:xfrm>
          <a:prstGeom prst="rect">
            <a:avLst/>
          </a:prstGeom>
          <a:ln w="31750">
            <a:solidFill>
              <a:srgbClr val="2E8B57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8805672" y="3319272"/>
            <a:ext cx="1901952" cy="1901952"/>
          </a:xfrm>
          <a:prstGeom prst="rect">
            <a:avLst/>
          </a:prstGeom>
          <a:ln w="31750">
            <a:solidFill>
              <a:srgbClr val="E07A2C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8833104" y="144475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80" name="Text 78"/>
          <p:cNvSpPr/>
          <p:nvPr/>
        </p:nvSpPr>
        <p:spPr>
          <a:xfrm>
            <a:off x="8833104" y="1444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9784080" y="144475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82" name="Text 80"/>
          <p:cNvSpPr/>
          <p:nvPr/>
        </p:nvSpPr>
        <p:spPr>
          <a:xfrm>
            <a:off x="9784080" y="1444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8833104" y="2395728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84" name="Text 82"/>
          <p:cNvSpPr/>
          <p:nvPr/>
        </p:nvSpPr>
        <p:spPr>
          <a:xfrm>
            <a:off x="8833104" y="23957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9784080" y="2395728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86" name="Text 84"/>
          <p:cNvSpPr/>
          <p:nvPr/>
        </p:nvSpPr>
        <p:spPr>
          <a:xfrm>
            <a:off x="9784080" y="23957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8833104" y="3346704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E07A2C"/>
          </a:solidFill>
          <a:ln/>
        </p:spPr>
      </p:sp>
      <p:sp>
        <p:nvSpPr>
          <p:cNvPr id="88" name="Text 86"/>
          <p:cNvSpPr/>
          <p:nvPr/>
        </p:nvSpPr>
        <p:spPr>
          <a:xfrm>
            <a:off x="8833104" y="33467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MIXED — SPLIT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02920" y="5623560"/>
            <a:ext cx="201168" cy="2011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0" name="Text 88"/>
          <p:cNvSpPr/>
          <p:nvPr/>
        </p:nvSpPr>
        <p:spPr>
          <a:xfrm>
            <a:off x="795528" y="55869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uniform region, stored as one node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02920" y="5916168"/>
            <a:ext cx="201168" cy="201168"/>
          </a:xfrm>
          <a:prstGeom prst="rect">
            <a:avLst/>
          </a:prstGeom>
          <a:solidFill>
            <a:srgbClr val="E07A2C"/>
          </a:solidFill>
          <a:ln/>
        </p:spPr>
      </p:sp>
      <p:sp>
        <p:nvSpPr>
          <p:cNvPr id="92" name="Text 90"/>
          <p:cNvSpPr/>
          <p:nvPr/>
        </p:nvSpPr>
        <p:spPr>
          <a:xfrm>
            <a:off x="795528" y="5879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non-uniform, divide into 4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502920" y="6172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far: 6 leaf nodes finalized (2 from Step 1 + 4 new). SE keeps going.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— STEP 3 —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Third-Level Split (Depth 3)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6035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2×2 block inside SE splits into four 1×1 pixels.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can merge back — the checkerboard means every neighboring pixel differs.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16 individual pixel-level LEAF nodes here — this region gets NO compression benefit.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03720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79208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54696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0184" y="141732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05672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81160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56648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32136" y="141732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03720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9208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696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189280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5672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56648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32136" y="189280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9208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4696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30184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05672" y="236829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36829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56648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32136" y="236829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9208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54696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0184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05672" y="2843784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81160" y="2843784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56648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32136" y="2843784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03720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79208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54696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30184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5672" y="3319272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81160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56648" y="3319272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32136" y="3319272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03720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79208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54696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30184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81160" y="379476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756648" y="3794760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32136" y="3794760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03720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79208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54696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30184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05672" y="427024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81160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756648" y="4270248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32136" y="4270248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03720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79208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54696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30184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05672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281160" y="474573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756648" y="4745736"/>
            <a:ext cx="475488" cy="475488"/>
          </a:xfrm>
          <a:prstGeom prst="rect">
            <a:avLst/>
          </a:prstGeom>
          <a:solidFill>
            <a:srgbClr val="F4F4F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232136" y="4745736"/>
            <a:ext cx="475488" cy="475488"/>
          </a:xfrm>
          <a:prstGeom prst="rect">
            <a:avLst/>
          </a:prstGeom>
          <a:solidFill>
            <a:srgbClr val="222222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03720" y="1417320"/>
            <a:ext cx="3803904" cy="3803904"/>
          </a:xfrm>
          <a:prstGeom prst="rect">
            <a:avLst/>
          </a:prstGeom>
          <a:ln w="19050">
            <a:solidFill>
              <a:srgbClr val="1F2A4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5672" y="1417320"/>
            <a:ext cx="0" cy="3803904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03720" y="3319272"/>
            <a:ext cx="3803904" cy="0"/>
          </a:xfrm>
          <a:prstGeom prst="line">
            <a:avLst/>
          </a:prstGeom>
          <a:noFill/>
          <a:ln w="38100">
            <a:solidFill>
              <a:srgbClr val="1F2A4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756648" y="1417320"/>
            <a:ext cx="0" cy="190195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05672" y="2368296"/>
            <a:ext cx="1901952" cy="0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756648" y="3319272"/>
            <a:ext cx="0" cy="190195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05672" y="4270248"/>
            <a:ext cx="1901952" cy="0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281160" y="3319272"/>
            <a:ext cx="0" cy="1901952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32136" y="3319272"/>
            <a:ext cx="0" cy="1901952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05672" y="3794760"/>
            <a:ext cx="1901952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05672" y="4745736"/>
            <a:ext cx="1901952" cy="0"/>
          </a:xfrm>
          <a:prstGeom prst="line">
            <a:avLst/>
          </a:prstGeom>
          <a:noFill/>
          <a:ln w="15875">
            <a:solidFill>
              <a:srgbClr val="1F2A4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03720" y="1417320"/>
            <a:ext cx="1901952" cy="1901952"/>
          </a:xfrm>
          <a:prstGeom prst="rect">
            <a:avLst/>
          </a:prstGeom>
          <a:ln w="31750">
            <a:solidFill>
              <a:srgbClr val="2E8B57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6903720" y="3319272"/>
            <a:ext cx="1901952" cy="1901952"/>
          </a:xfrm>
          <a:prstGeom prst="rect">
            <a:avLst/>
          </a:prstGeom>
          <a:ln w="31750">
            <a:solidFill>
              <a:srgbClr val="2E8B57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8833104" y="144475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83" name="Text 81"/>
          <p:cNvSpPr/>
          <p:nvPr/>
        </p:nvSpPr>
        <p:spPr>
          <a:xfrm>
            <a:off x="8833104" y="1444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784080" y="144475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85" name="Text 83"/>
          <p:cNvSpPr/>
          <p:nvPr/>
        </p:nvSpPr>
        <p:spPr>
          <a:xfrm>
            <a:off x="9784080" y="1444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8833104" y="2395728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87" name="Text 85"/>
          <p:cNvSpPr/>
          <p:nvPr/>
        </p:nvSpPr>
        <p:spPr>
          <a:xfrm>
            <a:off x="8833104" y="23957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9784080" y="2395728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89" name="Text 87"/>
          <p:cNvSpPr/>
          <p:nvPr/>
        </p:nvSpPr>
        <p:spPr>
          <a:xfrm>
            <a:off x="9784080" y="239572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02920" y="5623560"/>
            <a:ext cx="201168" cy="20116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1" name="Text 89"/>
          <p:cNvSpPr/>
          <p:nvPr/>
        </p:nvSpPr>
        <p:spPr>
          <a:xfrm>
            <a:off x="795528" y="55869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uniform region, stored as one node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02920" y="5916168"/>
            <a:ext cx="201168" cy="201168"/>
          </a:xfrm>
          <a:prstGeom prst="rect">
            <a:avLst/>
          </a:prstGeom>
          <a:solidFill>
            <a:srgbClr val="E07A2C"/>
          </a:solidFill>
          <a:ln/>
        </p:spPr>
      </p:sp>
      <p:sp>
        <p:nvSpPr>
          <p:cNvPr id="93" name="Text 91"/>
          <p:cNvSpPr/>
          <p:nvPr/>
        </p:nvSpPr>
        <p:spPr>
          <a:xfrm>
            <a:off x="795528" y="5879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— non-uniform, divide into 4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502920" y="6172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22 leaf nodes total represent all 64 pixels (see next slide for the full tree).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8805672" y="52943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16 pixel-level leaves (no merge possible)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Quad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49240" y="141732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AF0FA"/>
          </a:solidFill>
          <a:ln w="19050">
            <a:solidFill>
              <a:srgbClr val="2E53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49240" y="1417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(8×8)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4F3E9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 4×4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– black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0" cy="4572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3317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0FA"/>
          </a:solidFill>
          <a:ln w="19050">
            <a:solidFill>
              <a:srgbClr val="2E53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4×4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0" cy="4572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23317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4F3E9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4×4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– white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874520"/>
            <a:ext cx="1920240" cy="4572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23317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AF0FA"/>
          </a:solidFill>
          <a:ln w="19050">
            <a:solidFill>
              <a:srgbClr val="2E53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4×4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874520"/>
            <a:ext cx="4480560" cy="45720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68880" y="33375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E4F3E9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337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 2×2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white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886200" y="2788920"/>
            <a:ext cx="0" cy="5486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33375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E4F3E9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337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2×2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white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886200" y="2788920"/>
            <a:ext cx="0" cy="5486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33375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E4F3E9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337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2×2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white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86200" y="2788920"/>
            <a:ext cx="937260" cy="5486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3337560"/>
            <a:ext cx="868680" cy="502920"/>
          </a:xfrm>
          <a:prstGeom prst="roundRect">
            <a:avLst>
              <a:gd name="adj" fmla="val 10909"/>
            </a:avLst>
          </a:prstGeom>
          <a:solidFill>
            <a:srgbClr val="E4F3E9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337560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2×2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black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886200" y="2788920"/>
            <a:ext cx="1897380" cy="5486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29800" y="33375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AF0FA"/>
          </a:solidFill>
          <a:ln w="19050">
            <a:solidFill>
              <a:srgbClr val="2E53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9800" y="33375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(2×2)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non-uniform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561320" y="2788920"/>
            <a:ext cx="0" cy="54864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64040" y="434340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E4F3E9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64040" y="4343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(1×1)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pixels — no merge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(checkerboard, worst case)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561320" y="3840480"/>
            <a:ext cx="0" cy="50292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F7F5F0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3949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for this tree:  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leaf nodes  +  7 internal (split) nodes  =  29 nodes total, representing all 64 original pixels.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Efficiency Comparison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25146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Representation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3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Elements Stored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3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Raw pixel array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64 pixel values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Quad Tree — leaf nodes only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22 leaf values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Quad Tree — full tree (leaf + internal)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29 nodes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Reduction (leaves vs. raw pixels)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</a:rPr>
                        <a:t>65.6% fewer stored values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A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00200"/>
            <a:ext cx="3383280" cy="3657600"/>
          </a:xfrm>
          <a:prstGeom prst="rect">
            <a:avLst/>
          </a:prstGeom>
          <a:solidFill>
            <a:srgbClr val="F7F5F0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isn't 100% compression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219456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sample deliberately includes a checkerboard region (SE) as a worst case — it splits all the way to single pixels with zero savings.
Real photos have large uniform areas (sky, walls, backgrounds) that collapse into single leaves, so real-world compression ratios are typically much higher than this example.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Applications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compression gains on images with large flat / uniform regions.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level of detail — stop subdividing earlier for lower resolution.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spatial queries — quickly locate the region containing a point.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stores detail where detail actually exists.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and texture compression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Level-of-detail rendering in computer graphics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Information Systems (GIS) — map tiling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detection in games / simulations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indexing in databases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9875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 trees compress images by merging uniform regions into single leaf nodes, instead of storing every pixel individually.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efficiency depends on image content: flat regions save enormous space; detailed or noisy regions save little to nothing.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simulation: 64 raw pixels → 22 leaf nodes (≈66% fewer stored values) — even with one deliberately ‘hard’ checkerboard region included.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Jeevan R  |  Reg No: 192524007  |  Data Structures  —  CO2-AT-1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1079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Nandhini Elangovan</cp:lastModifiedBy>
  <cp:revision>2</cp:revision>
  <dcterms:created xsi:type="dcterms:W3CDTF">2026-08-13T05:17:12Z</dcterms:created>
  <dcterms:modified xsi:type="dcterms:W3CDTF">2026-08-13T05:21:29Z</dcterms:modified>
</cp:coreProperties>
</file>