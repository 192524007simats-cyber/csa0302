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4AB543-6D2C-421A-AB1C-7AB768C5B0E9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3CAD2C-D1ED-48C5-A75C-EE3FB5D632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72812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3CAD2C-D1ED-48C5-A75C-EE3FB5D63283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78044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98B2C-B807-481A-87F8-95E52106D10C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8C53E-5135-4A7E-B3BF-5FA03AB6A75E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72614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98B2C-B807-481A-87F8-95E52106D10C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8C53E-5135-4A7E-B3BF-5FA03AB6A7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36188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98B2C-B807-481A-87F8-95E52106D10C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8C53E-5135-4A7E-B3BF-5FA03AB6A75E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45285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98B2C-B807-481A-87F8-95E52106D10C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8C53E-5135-4A7E-B3BF-5FA03AB6A7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80335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98B2C-B807-481A-87F8-95E52106D10C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8C53E-5135-4A7E-B3BF-5FA03AB6A7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89072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98B2C-B807-481A-87F8-95E52106D10C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8C53E-5135-4A7E-B3BF-5FA03AB6A7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54978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98B2C-B807-481A-87F8-95E52106D10C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8C53E-5135-4A7E-B3BF-5FA03AB6A7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41152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52098B2C-B807-481A-87F8-95E52106D10C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898C53E-5135-4A7E-B3BF-5FA03AB6A7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10062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98B2C-B807-481A-87F8-95E52106D10C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8C53E-5135-4A7E-B3BF-5FA03AB6A7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00593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98B2C-B807-481A-87F8-95E52106D10C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8C53E-5135-4A7E-B3BF-5FA03AB6A7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8447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98B2C-B807-481A-87F8-95E52106D10C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8C53E-5135-4A7E-B3BF-5FA03AB6A7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56402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2098B2C-B807-481A-87F8-95E52106D10C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B898C53E-5135-4A7E-B3BF-5FA03AB6A75E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41080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E651D16-775F-E3DA-A6BC-E4099A0E5B8C}"/>
              </a:ext>
            </a:extLst>
          </p:cNvPr>
          <p:cNvSpPr txBox="1"/>
          <p:nvPr/>
        </p:nvSpPr>
        <p:spPr>
          <a:xfrm>
            <a:off x="2359742" y="2643579"/>
            <a:ext cx="84164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/>
              <a:t>CO-1 AT-2 TECHNICAL PRESENTATION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1A8801-16A8-B92B-9552-EB339FE84C1E}"/>
              </a:ext>
            </a:extLst>
          </p:cNvPr>
          <p:cNvSpPr txBox="1"/>
          <p:nvPr/>
        </p:nvSpPr>
        <p:spPr>
          <a:xfrm>
            <a:off x="3342968" y="3289910"/>
            <a:ext cx="45130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CSA-0302 DATA STRUCTURE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D476CE-97C1-0664-4261-88A15960A2D9}"/>
              </a:ext>
            </a:extLst>
          </p:cNvPr>
          <p:cNvSpPr txBox="1"/>
          <p:nvPr/>
        </p:nvSpPr>
        <p:spPr>
          <a:xfrm>
            <a:off x="9576619" y="4493342"/>
            <a:ext cx="231058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PRESENTED BY:</a:t>
            </a:r>
          </a:p>
          <a:p>
            <a:r>
              <a:rPr lang="en-IN" b="1" dirty="0"/>
              <a:t>NAME</a:t>
            </a:r>
            <a:r>
              <a:rPr lang="en-IN" dirty="0"/>
              <a:t>:JEEVAN R</a:t>
            </a:r>
          </a:p>
          <a:p>
            <a:r>
              <a:rPr lang="en-IN" b="1" dirty="0"/>
              <a:t>REG.NO</a:t>
            </a:r>
            <a:r>
              <a:rPr lang="en-IN" dirty="0"/>
              <a:t>:192524007</a:t>
            </a:r>
          </a:p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3A2FA0-4A69-6058-544B-FF383DA97850}"/>
              </a:ext>
            </a:extLst>
          </p:cNvPr>
          <p:cNvSpPr txBox="1"/>
          <p:nvPr/>
        </p:nvSpPr>
        <p:spPr>
          <a:xfrm>
            <a:off x="776748" y="4748981"/>
            <a:ext cx="21139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GUIDED BY:</a:t>
            </a:r>
          </a:p>
          <a:p>
            <a:r>
              <a:rPr lang="en-IN" dirty="0" err="1"/>
              <a:t>Dr.J.Alphonsa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387734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78474C-9588-4F1D-6E46-648FEF03A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Question 1: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FB42F0-38EC-E689-1427-07369B8E02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IN" sz="2800" dirty="0"/>
          </a:p>
          <a:p>
            <a:pPr marL="0" indent="0">
              <a:buNone/>
            </a:pPr>
            <a:endParaRPr lang="en-IN" sz="2800" dirty="0"/>
          </a:p>
          <a:p>
            <a:r>
              <a:rPr lang="en-IN" sz="2800" dirty="0"/>
              <a:t>A university stores student registration numbers and frequently searches them during examinations. Recommend a suitable structure and justify based on search efficiency.</a:t>
            </a:r>
          </a:p>
        </p:txBody>
      </p:sp>
    </p:spTree>
    <p:extLst>
      <p:ext uri="{BB962C8B-B14F-4D97-AF65-F5344CB8AC3E}">
        <p14:creationId xmlns:p14="http://schemas.microsoft.com/office/powerpoint/2010/main" val="6022789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F28F9-8E66-4E46-034A-D4019A00C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73ECF-C0BA-0542-4635-2AAE220BA4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sz="2800" b="1" dirty="0"/>
              <a:t>Problem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/>
              <a:t> A university stores thousands of student registration numbers.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/>
              <a:t>During examinations, staff frequently search for specific registration numbers.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/>
              <a:t>Fast searching is required to reduce waiting time.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/>
              <a:t>The data structure should provide efficient insertion and search operations.</a:t>
            </a:r>
          </a:p>
          <a:p>
            <a:pPr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570561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4DA535-3B54-7F60-7A60-10DDB06EC1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Recommended Structure: Binary Search Tree (BST)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8FF3D9D-8152-A683-8FD9-48BACDEF6EE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41703086"/>
              </p:ext>
            </p:extLst>
          </p:nvPr>
        </p:nvGraphicFramePr>
        <p:xfrm>
          <a:off x="1036321" y="4928384"/>
          <a:ext cx="10058400" cy="1463040"/>
        </p:xfrm>
        <a:graphic>
          <a:graphicData uri="http://schemas.openxmlformats.org/drawingml/2006/table">
            <a:tbl>
              <a:tblPr/>
              <a:tblGrid>
                <a:gridCol w="5029200">
                  <a:extLst>
                    <a:ext uri="{9D8B030D-6E8A-4147-A177-3AD203B41FA5}">
                      <a16:colId xmlns:a16="http://schemas.microsoft.com/office/drawing/2014/main" val="780883826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112469792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Operation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Complexity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36465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Search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O(log n) (Average)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51737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Insert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O(log n) (Average)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04556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Delete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O(log n) (Average)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2710005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A1AE514F-B226-A192-6079-44381B425CE6}"/>
              </a:ext>
            </a:extLst>
          </p:cNvPr>
          <p:cNvSpPr txBox="1"/>
          <p:nvPr/>
        </p:nvSpPr>
        <p:spPr>
          <a:xfrm>
            <a:off x="1097279" y="1758285"/>
            <a:ext cx="6473559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/>
              <a:t>Why BST?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Stores data in sorted order. 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Left child contains smaller values.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Right child contains larger values.</a:t>
            </a:r>
          </a:p>
          <a:p>
            <a:r>
              <a:rPr lang="en-IN" sz="2000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Efficient searching using tree traversal.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 </a:t>
            </a:r>
          </a:p>
          <a:p>
            <a:pPr>
              <a:buNone/>
            </a:pPr>
            <a:r>
              <a:rPr lang="en-IN" sz="2000" b="1" dirty="0"/>
              <a:t>Time Complexity</a:t>
            </a:r>
          </a:p>
        </p:txBody>
      </p:sp>
    </p:spTree>
    <p:extLst>
      <p:ext uri="{BB962C8B-B14F-4D97-AF65-F5344CB8AC3E}">
        <p14:creationId xmlns:p14="http://schemas.microsoft.com/office/powerpoint/2010/main" val="23611852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0CA968-4D98-9D0F-F5C0-6262A0035A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18160"/>
            <a:ext cx="7477760" cy="932597"/>
          </a:xfrm>
        </p:spPr>
        <p:txBody>
          <a:bodyPr/>
          <a:lstStyle/>
          <a:p>
            <a:r>
              <a:rPr lang="en-IN" b="1" dirty="0"/>
              <a:t>Justification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DB158AB-E42D-B45B-E1CC-FA5122853A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3360" y="1866054"/>
            <a:ext cx="3230880" cy="4023360"/>
          </a:xfrm>
        </p:spPr>
        <p:txBody>
          <a:bodyPr>
            <a:normAutofit fontScale="77500" lnSpcReduction="20000"/>
          </a:bodyPr>
          <a:lstStyle/>
          <a:p>
            <a:r>
              <a:rPr lang="en-IN" sz="3200" b="1" dirty="0"/>
              <a:t>Search Efficiency</a:t>
            </a:r>
          </a:p>
          <a:p>
            <a:r>
              <a:rPr lang="en-IN" sz="1400" dirty="0"/>
              <a:t>Example:</a:t>
            </a:r>
          </a:p>
          <a:p>
            <a:r>
              <a:rPr lang="en-IN" sz="1400" dirty="0"/>
              <a:t>          2023005</a:t>
            </a:r>
          </a:p>
          <a:p>
            <a:r>
              <a:rPr lang="en-IN" sz="1400" dirty="0"/>
              <a:t>         /       \</a:t>
            </a:r>
          </a:p>
          <a:p>
            <a:r>
              <a:rPr lang="en-IN" sz="1400" dirty="0"/>
              <a:t>   2022008      2024012</a:t>
            </a:r>
          </a:p>
          <a:p>
            <a:r>
              <a:rPr lang="en-IN" sz="1400" dirty="0"/>
              <a:t>    /    \        /   \</a:t>
            </a:r>
          </a:p>
          <a:p>
            <a:r>
              <a:rPr lang="en-IN" sz="1400" dirty="0"/>
              <a:t>2021001 2022500 2023500 2024500</a:t>
            </a:r>
          </a:p>
          <a:p>
            <a:r>
              <a:rPr lang="en-IN" sz="3100" b="1" dirty="0"/>
              <a:t>Searching 2023500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100" dirty="0"/>
              <a:t>Compare with root     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100" dirty="0"/>
              <a:t>Move right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100" dirty="0"/>
              <a:t>Found quickly</a:t>
            </a:r>
          </a:p>
          <a:p>
            <a:endParaRPr lang="en-IN" sz="32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E2E8BC-5B46-CC3D-82CF-26112D01F176}"/>
              </a:ext>
            </a:extLst>
          </p:cNvPr>
          <p:cNvSpPr txBox="1"/>
          <p:nvPr/>
        </p:nvSpPr>
        <p:spPr>
          <a:xfrm>
            <a:off x="4094480" y="1778000"/>
            <a:ext cx="3931920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Benefits</a:t>
            </a:r>
          </a:p>
          <a:p>
            <a:endParaRPr lang="en-IN" sz="2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Faster than linear search.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Handles large student databases.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Efficient insertions and searches.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960040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62C3E-528A-A91A-4087-C7E1577F98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13DAD0-0B1F-37E6-71D6-F0B591C754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3200" b="1" dirty="0"/>
              <a:t>Conclusion: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Binary Search Tree provides efficient searching.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Average search complexity is </a:t>
            </a:r>
            <a:r>
              <a:rPr lang="en-IN" sz="2400" b="1" dirty="0"/>
              <a:t>O(log n)</a:t>
            </a:r>
            <a:r>
              <a:rPr lang="en-IN" sz="2400" dirty="0"/>
              <a:t>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Suitable for large university databases.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Reduces examination processing time.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Improves overall system performance</a:t>
            </a:r>
            <a:r>
              <a:rPr lang="en-IN" dirty="0"/>
              <a:t>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291105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AC715-3B12-D27D-F46E-6F30203A49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Question 2: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4A1B54-E4DF-3061-A651-F347C7B423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IN" sz="3600" dirty="0"/>
          </a:p>
          <a:p>
            <a:pPr marL="0" indent="0">
              <a:buNone/>
            </a:pPr>
            <a:r>
              <a:rPr lang="en-IN" sz="3600" dirty="0"/>
              <a:t>A web browser supports navigating backward through previously visited pages. Recommend a suitable ADT and prepare a technical presentation explaining how it improves performance efficiency.</a:t>
            </a:r>
          </a:p>
        </p:txBody>
      </p:sp>
    </p:spTree>
    <p:extLst>
      <p:ext uri="{BB962C8B-B14F-4D97-AF65-F5344CB8AC3E}">
        <p14:creationId xmlns:p14="http://schemas.microsoft.com/office/powerpoint/2010/main" val="1426493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1F65C-B926-66B6-B43A-18574E8C30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AD0C30-67FB-A68D-06AF-BD0FDDDEB9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3200" b="1" dirty="0"/>
              <a:t>Problem: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/>
              <a:t>Users visit multiple webpages.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/>
              <a:t>They frequently press the </a:t>
            </a:r>
            <a:r>
              <a:rPr lang="en-IN" sz="2800" b="1" dirty="0"/>
              <a:t>Back</a:t>
            </a:r>
            <a:r>
              <a:rPr lang="en-IN" sz="2800" dirty="0"/>
              <a:t> button.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/>
              <a:t>The browser must remember previously visited pages.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/>
              <a:t>The solution should provide fast navigation.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659254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060808-3923-C565-1BD6-23F3C7BE7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Recommended ADT: Stack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09C8C4-5EAB-7412-95EE-BBD0A31695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400" b="1" dirty="0"/>
              <a:t>Why Stack?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Follows </a:t>
            </a:r>
            <a:r>
              <a:rPr lang="en-IN" sz="2400" b="1" dirty="0"/>
              <a:t>LIFO (Last In, First Out)</a:t>
            </a:r>
            <a:r>
              <a:rPr lang="en-IN" sz="2400" dirty="0"/>
              <a:t> principle.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The most recently visited page is accessed first.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Ideal for browser history. </a:t>
            </a:r>
          </a:p>
          <a:p>
            <a:r>
              <a:rPr lang="en-IN" sz="2400" b="1" dirty="0"/>
              <a:t>Operations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Push → Visit a new webpage.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Pop → Go back to previous webpage.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Peek → View the current page.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13535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7CBAC5-C610-184A-1E05-28B969527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Working Example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B7BEED-65CE-9986-715F-FA0DE2C79CBD}"/>
              </a:ext>
            </a:extLst>
          </p:cNvPr>
          <p:cNvSpPr txBox="1"/>
          <p:nvPr/>
        </p:nvSpPr>
        <p:spPr>
          <a:xfrm>
            <a:off x="233680" y="1879600"/>
            <a:ext cx="219456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Suppose user visits:</a:t>
            </a:r>
          </a:p>
          <a:p>
            <a:endParaRPr lang="en-IN" sz="2400" dirty="0"/>
          </a:p>
          <a:p>
            <a:r>
              <a:rPr lang="en-IN" dirty="0"/>
              <a:t>Google</a:t>
            </a:r>
          </a:p>
          <a:p>
            <a:r>
              <a:rPr lang="en-IN" dirty="0"/>
              <a:t>↓</a:t>
            </a:r>
          </a:p>
          <a:p>
            <a:endParaRPr lang="en-IN" dirty="0"/>
          </a:p>
          <a:p>
            <a:r>
              <a:rPr lang="en-IN" dirty="0"/>
              <a:t>YouTube</a:t>
            </a:r>
          </a:p>
          <a:p>
            <a:r>
              <a:rPr lang="en-IN" dirty="0"/>
              <a:t>↓</a:t>
            </a:r>
          </a:p>
          <a:p>
            <a:endParaRPr lang="en-IN" dirty="0"/>
          </a:p>
          <a:p>
            <a:r>
              <a:rPr lang="en-IN" dirty="0"/>
              <a:t>Wikipedia</a:t>
            </a:r>
          </a:p>
          <a:p>
            <a:r>
              <a:rPr lang="en-IN" dirty="0"/>
              <a:t>↓</a:t>
            </a:r>
          </a:p>
          <a:p>
            <a:endParaRPr lang="en-IN" dirty="0"/>
          </a:p>
          <a:p>
            <a:r>
              <a:rPr lang="en-IN" dirty="0"/>
              <a:t>GitHub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8697B9-7F3B-D08F-45EB-FC412F495BB9}"/>
              </a:ext>
            </a:extLst>
          </p:cNvPr>
          <p:cNvSpPr txBox="1"/>
          <p:nvPr/>
        </p:nvSpPr>
        <p:spPr>
          <a:xfrm>
            <a:off x="2357120" y="1879600"/>
            <a:ext cx="1838960" cy="3508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Stack:</a:t>
            </a:r>
          </a:p>
          <a:p>
            <a:endParaRPr lang="en-IN" dirty="0"/>
          </a:p>
          <a:p>
            <a:r>
              <a:rPr lang="en-US" dirty="0"/>
              <a:t>Top</a:t>
            </a:r>
          </a:p>
          <a:p>
            <a:r>
              <a:rPr lang="en-US" dirty="0"/>
              <a:t>-------</a:t>
            </a:r>
          </a:p>
          <a:p>
            <a:r>
              <a:rPr lang="en-US" dirty="0"/>
              <a:t>GitHub</a:t>
            </a:r>
          </a:p>
          <a:p>
            <a:endParaRPr lang="en-US" dirty="0"/>
          </a:p>
          <a:p>
            <a:r>
              <a:rPr lang="en-US" dirty="0"/>
              <a:t>Wikipedia</a:t>
            </a:r>
          </a:p>
          <a:p>
            <a:endParaRPr lang="en-US" dirty="0"/>
          </a:p>
          <a:p>
            <a:r>
              <a:rPr lang="en-US" dirty="0"/>
              <a:t>YouTube</a:t>
            </a:r>
          </a:p>
          <a:p>
            <a:endParaRPr lang="en-US" dirty="0"/>
          </a:p>
          <a:p>
            <a:r>
              <a:rPr lang="en-US" dirty="0"/>
              <a:t>Google</a:t>
            </a:r>
          </a:p>
          <a:p>
            <a:r>
              <a:rPr lang="en-US" dirty="0"/>
              <a:t>-------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288EED7-B3C2-C457-E79C-2F92122703B8}"/>
              </a:ext>
            </a:extLst>
          </p:cNvPr>
          <p:cNvSpPr txBox="1"/>
          <p:nvPr/>
        </p:nvSpPr>
        <p:spPr>
          <a:xfrm>
            <a:off x="3606800" y="1879600"/>
            <a:ext cx="426720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When Back button is pressed</a:t>
            </a:r>
          </a:p>
          <a:p>
            <a:endParaRPr lang="en-IN" sz="2400" b="1" dirty="0"/>
          </a:p>
          <a:p>
            <a:r>
              <a:rPr lang="en-US" dirty="0"/>
              <a:t>GitHub removed</a:t>
            </a:r>
          </a:p>
          <a:p>
            <a:endParaRPr lang="en-US" dirty="0"/>
          </a:p>
          <a:p>
            <a:r>
              <a:rPr lang="en-US" dirty="0"/>
              <a:t>Current Page</a:t>
            </a:r>
          </a:p>
          <a:p>
            <a:endParaRPr lang="en-US" dirty="0"/>
          </a:p>
          <a:p>
            <a:r>
              <a:rPr lang="en-US" dirty="0"/>
              <a:t>Wikipedia</a:t>
            </a:r>
            <a:endParaRPr lang="en-IN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82D7DE1-3C33-35D4-14ED-6A5EE98E9E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7164694"/>
              </p:ext>
            </p:extLst>
          </p:nvPr>
        </p:nvGraphicFramePr>
        <p:xfrm>
          <a:off x="4551680" y="4656733"/>
          <a:ext cx="10058400" cy="1463040"/>
        </p:xfrm>
        <a:graphic>
          <a:graphicData uri="http://schemas.openxmlformats.org/drawingml/2006/table">
            <a:tbl>
              <a:tblPr/>
              <a:tblGrid>
                <a:gridCol w="5029200">
                  <a:extLst>
                    <a:ext uri="{9D8B030D-6E8A-4147-A177-3AD203B41FA5}">
                      <a16:colId xmlns:a16="http://schemas.microsoft.com/office/drawing/2014/main" val="1659551312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50445786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Operation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Complexity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02655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Push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O(1)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45095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Pop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O(1)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76525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Peek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O(1)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8737657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EE33774B-38B1-E38A-F0B3-63F48562CF6E}"/>
              </a:ext>
            </a:extLst>
          </p:cNvPr>
          <p:cNvSpPr txBox="1"/>
          <p:nvPr/>
        </p:nvSpPr>
        <p:spPr>
          <a:xfrm>
            <a:off x="6461760" y="4095591"/>
            <a:ext cx="73050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Time Complexity</a:t>
            </a:r>
          </a:p>
        </p:txBody>
      </p:sp>
    </p:spTree>
    <p:extLst>
      <p:ext uri="{BB962C8B-B14F-4D97-AF65-F5344CB8AC3E}">
        <p14:creationId xmlns:p14="http://schemas.microsoft.com/office/powerpoint/2010/main" val="26997929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CB2077-0E70-3344-BC05-E5AC0AC029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4160" y="-576997"/>
            <a:ext cx="10058400" cy="1450757"/>
          </a:xfrm>
        </p:spPr>
        <p:txBody>
          <a:bodyPr/>
          <a:lstStyle/>
          <a:p>
            <a:r>
              <a:rPr lang="en-IN" b="1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781EAE-AB31-F268-774A-AB4B2CCFA7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2720" y="1770083"/>
            <a:ext cx="6410960" cy="4023360"/>
          </a:xfrm>
        </p:spPr>
        <p:txBody>
          <a:bodyPr>
            <a:normAutofit/>
          </a:bodyPr>
          <a:lstStyle/>
          <a:p>
            <a:r>
              <a:rPr lang="en-IN" sz="4600" b="1" dirty="0"/>
              <a:t>Performance Efficiency: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Advantages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Instant Back navigation.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Constant time operations (</a:t>
            </a:r>
            <a:r>
              <a:rPr lang="en-IN" b="1" dirty="0"/>
              <a:t>O(1)</a:t>
            </a:r>
            <a:r>
              <a:rPr lang="en-IN" dirty="0"/>
              <a:t>).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Low memory overhead.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Easy implementation.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Efficient browser history management. </a:t>
            </a:r>
          </a:p>
          <a:p>
            <a:r>
              <a:rPr lang="en-IN" dirty="0"/>
              <a:t>. 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7D8543-D027-D5D5-6607-B1BC0BD25B23}"/>
              </a:ext>
            </a:extLst>
          </p:cNvPr>
          <p:cNvSpPr txBox="1"/>
          <p:nvPr/>
        </p:nvSpPr>
        <p:spPr>
          <a:xfrm>
            <a:off x="6512560" y="1770083"/>
            <a:ext cx="566928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b="1" dirty="0"/>
              <a:t>Conclusion:</a:t>
            </a:r>
          </a:p>
          <a:p>
            <a:endParaRPr lang="en-IN" sz="48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Stack is the most suitable ADT for browser back navigation.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LIFO </a:t>
            </a:r>
            <a:r>
              <a:rPr lang="en-IN" sz="2400" dirty="0" err="1"/>
              <a:t>behavior</a:t>
            </a:r>
            <a:r>
              <a:rPr lang="en-IN" sz="2400" dirty="0"/>
              <a:t> matches browser history perfectly.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Improves user experience through fast and efficient page retrieval.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73474525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35</TotalTime>
  <Words>480</Words>
  <Application>Microsoft Office PowerPoint</Application>
  <PresentationFormat>Widescreen</PresentationFormat>
  <Paragraphs>138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Retrospect</vt:lpstr>
      <vt:lpstr>PowerPoint Presentation</vt:lpstr>
      <vt:lpstr>Question 1:</vt:lpstr>
      <vt:lpstr>Problem Statement</vt:lpstr>
      <vt:lpstr>Recommended Structure: Binary Search Tree (BST)</vt:lpstr>
      <vt:lpstr>Justification</vt:lpstr>
      <vt:lpstr>Conclusion</vt:lpstr>
      <vt:lpstr>Question 2:</vt:lpstr>
      <vt:lpstr>Problem Statement</vt:lpstr>
      <vt:lpstr>Recommended ADT: Stack</vt:lpstr>
      <vt:lpstr>Working Example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Nandhini Elangovan</dc:creator>
  <cp:lastModifiedBy>Nandhini Elangovan</cp:lastModifiedBy>
  <cp:revision>1</cp:revision>
  <dcterms:created xsi:type="dcterms:W3CDTF">2026-07-25T05:50:59Z</dcterms:created>
  <dcterms:modified xsi:type="dcterms:W3CDTF">2026-07-25T06:26:31Z</dcterms:modified>
</cp:coreProperties>
</file>